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92f0b3fc84ecc" /><Relationship Type="http://schemas.openxmlformats.org/officeDocument/2006/relationships/extended-properties" Target="/docProps/app.xml" Id="R15efe7d6d64f4fa3" /><Relationship Type="http://schemas.openxmlformats.org/officeDocument/2006/relationships/officeDocument" Target="/ppt/presentation.xml" Id="R5da21e749f9b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f48a316234bcf"/>
  </p:sldMasterIdLst>
  <p:notesMasterIdLst>
    <p:notesMasterId xmlns:r="http://schemas.openxmlformats.org/officeDocument/2006/relationships" r:id="Rbc3336fa2e444333"/>
  </p:notesMasterIdLst>
  <p:sldIdLst>
    <p:sldId xmlns:r="http://schemas.openxmlformats.org/officeDocument/2006/relationships" id="256" r:id="R2426b11ebcdc4ddc"/>
    <p:sldId xmlns:r="http://schemas.openxmlformats.org/officeDocument/2006/relationships" id="257" r:id="R667dea41d43c4275"/>
    <p:sldId xmlns:r="http://schemas.openxmlformats.org/officeDocument/2006/relationships" id="258" r:id="Rdf9e82f365844b3d"/>
    <p:sldId xmlns:r="http://schemas.openxmlformats.org/officeDocument/2006/relationships" id="259" r:id="R8e40da36b2454f64"/>
    <p:sldId xmlns:r="http://schemas.openxmlformats.org/officeDocument/2006/relationships" id="260" r:id="Ra4cd1daa6f284304"/>
    <p:sldId xmlns:r="http://schemas.openxmlformats.org/officeDocument/2006/relationships" id="261" r:id="R8a192fa93d54498c"/>
    <p:sldId xmlns:r="http://schemas.openxmlformats.org/officeDocument/2006/relationships" id="262" r:id="Rd10ee3a7dae14e26"/>
    <p:sldId xmlns:r="http://schemas.openxmlformats.org/officeDocument/2006/relationships" id="263" r:id="R52df758cb2e64b00"/>
    <p:sldId xmlns:r="http://schemas.openxmlformats.org/officeDocument/2006/relationships" id="264" r:id="R26d5df78a3b54221"/>
    <p:sldId xmlns:r="http://schemas.openxmlformats.org/officeDocument/2006/relationships" id="265" r:id="Rcd17c434cbfa4ee0"/>
    <p:sldId xmlns:r="http://schemas.openxmlformats.org/officeDocument/2006/relationships" id="266" r:id="R87ba646d656e4e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28de6ef19a4dfc" /><Relationship Type="http://schemas.openxmlformats.org/officeDocument/2006/relationships/slideMaster" Target="/ppt/slideMasters/slideMaster1.xml" Id="R352f48a316234bcf" /><Relationship Type="http://schemas.openxmlformats.org/officeDocument/2006/relationships/notesMaster" Target="/ppt/notesMasters/notesMaster1.xml" Id="Rbc3336fa2e444333" /><Relationship Type="http://schemas.openxmlformats.org/officeDocument/2006/relationships/presProps" Target="/ppt/presProps.xml" Id="R6848b83173284020" /><Relationship Type="http://schemas.openxmlformats.org/officeDocument/2006/relationships/tableStyles" Target="/ppt/tableStyles.xml" Id="R449e20646b3b46a4" /><Relationship Type="http://schemas.openxmlformats.org/officeDocument/2006/relationships/slide" Target="/ppt/slides/slide1.xml" Id="R2426b11ebcdc4ddc" /><Relationship Type="http://schemas.openxmlformats.org/officeDocument/2006/relationships/slide" Target="/ppt/slides/slide2.xml" Id="R667dea41d43c4275" /><Relationship Type="http://schemas.openxmlformats.org/officeDocument/2006/relationships/slide" Target="/ppt/slides/slide3.xml" Id="Rdf9e82f365844b3d" /><Relationship Type="http://schemas.openxmlformats.org/officeDocument/2006/relationships/slide" Target="/ppt/slides/slide4.xml" Id="R8e40da36b2454f64" /><Relationship Type="http://schemas.openxmlformats.org/officeDocument/2006/relationships/slide" Target="/ppt/slides/slide5.xml" Id="Ra4cd1daa6f284304" /><Relationship Type="http://schemas.openxmlformats.org/officeDocument/2006/relationships/slide" Target="/ppt/slides/slide6.xml" Id="R8a192fa93d54498c" /><Relationship Type="http://schemas.openxmlformats.org/officeDocument/2006/relationships/slide" Target="/ppt/slides/slide7.xml" Id="Rd10ee3a7dae14e26" /><Relationship Type="http://schemas.openxmlformats.org/officeDocument/2006/relationships/slide" Target="/ppt/slides/slide8.xml" Id="R52df758cb2e64b00" /><Relationship Type="http://schemas.openxmlformats.org/officeDocument/2006/relationships/slide" Target="/ppt/slides/slide9.xml" Id="R26d5df78a3b54221" /><Relationship Type="http://schemas.openxmlformats.org/officeDocument/2006/relationships/slide" Target="/ppt/slides/slide10.xml" Id="Rcd17c434cbfa4ee0" /><Relationship Type="http://schemas.openxmlformats.org/officeDocument/2006/relationships/slide" Target="/ppt/slides/slide11.xml" Id="R87ba646d656e4e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4871e50086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598367240458d" /><Relationship Type="http://schemas.openxmlformats.org/officeDocument/2006/relationships/notesMaster" Target="/ppt/notesMasters/notesMaster1.xml" Id="R62522a5e2d494f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8e85ddcd4945f1" /><Relationship Type="http://schemas.openxmlformats.org/officeDocument/2006/relationships/notesMaster" Target="/ppt/notesMasters/notesMaster1.xml" Id="R9a704d6a68cd4d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257e3cbd84fa2" /><Relationship Type="http://schemas.openxmlformats.org/officeDocument/2006/relationships/notesMaster" Target="/ppt/notesMasters/notesMaster1.xml" Id="Ra7650f308272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fc45cce1a45a6" /><Relationship Type="http://schemas.openxmlformats.org/officeDocument/2006/relationships/notesMaster" Target="/ppt/notesMasters/notesMaster1.xml" Id="R54df3739bb5e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748ceabfb04fbb" /><Relationship Type="http://schemas.openxmlformats.org/officeDocument/2006/relationships/notesMaster" Target="/ppt/notesMasters/notesMaster1.xml" Id="Re936693f0e594f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903aac481e4b2a" /><Relationship Type="http://schemas.openxmlformats.org/officeDocument/2006/relationships/notesMaster" Target="/ppt/notesMasters/notesMaster1.xml" Id="R2648bd0b3f4a40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aeb50b9c134e0f" /><Relationship Type="http://schemas.openxmlformats.org/officeDocument/2006/relationships/notesMaster" Target="/ppt/notesMasters/notesMaster1.xml" Id="R52bf3654ce4943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24089370a4e07" /><Relationship Type="http://schemas.openxmlformats.org/officeDocument/2006/relationships/notesMaster" Target="/ppt/notesMasters/notesMaster1.xml" Id="Rff5bbdb7a8954a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9a657b698a450f" /><Relationship Type="http://schemas.openxmlformats.org/officeDocument/2006/relationships/notesMaster" Target="/ppt/notesMasters/notesMaster1.xml" Id="Re52af7534b6141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03246b560c4e33" /><Relationship Type="http://schemas.openxmlformats.org/officeDocument/2006/relationships/notesMaster" Target="/ppt/notesMasters/notesMaster1.xml" Id="R1f4651c48fa54d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88d58b35834efa" /><Relationship Type="http://schemas.openxmlformats.org/officeDocument/2006/relationships/notesMaster" Target="/ppt/notesMasters/notesMaster1.xml" Id="R673e23d797cc4b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9fbd797b3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0591f1e014c40" /><Relationship Type="http://schemas.openxmlformats.org/officeDocument/2006/relationships/slideLayout" Target="/ppt/slideLayouts/slideLayout1.xml" Id="R8a314812a14d42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314812a14d42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4d1768fc34534" /><Relationship Type="http://schemas.openxmlformats.org/officeDocument/2006/relationships/notesSlide" Target="/ppt/notesSlides/notesSlide1.xml" Id="Re21c3537128f4b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8f52b24e34598" /><Relationship Type="http://schemas.openxmlformats.org/officeDocument/2006/relationships/notesSlide" Target="/ppt/notesSlides/notesSlide2.xml" Id="R2627e202be344c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42740866f4c64" /><Relationship Type="http://schemas.openxmlformats.org/officeDocument/2006/relationships/notesSlide" Target="/ppt/notesSlides/notesSlide3.xml" Id="Rf6734fe3bd04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a7be8f1864a9f" /><Relationship Type="http://schemas.openxmlformats.org/officeDocument/2006/relationships/notesSlide" Target="/ppt/notesSlides/notesSlide4.xml" Id="R504a1798180a46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78d519c9241d5" /><Relationship Type="http://schemas.openxmlformats.org/officeDocument/2006/relationships/notesSlide" Target="/ppt/notesSlides/notesSlide5.xml" Id="R533e9a5b262643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d9814f26439b" /><Relationship Type="http://schemas.openxmlformats.org/officeDocument/2006/relationships/notesSlide" Target="/ppt/notesSlides/notesSlide6.xml" Id="R1921d6ea1b4847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691f13a084c8c" /><Relationship Type="http://schemas.openxmlformats.org/officeDocument/2006/relationships/notesSlide" Target="/ppt/notesSlides/notesSlide7.xml" Id="R47273a5a33ca41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4f67fb7864b65" /><Relationship Type="http://schemas.openxmlformats.org/officeDocument/2006/relationships/chart" Target="/ppt/slides/charts/chart1.xml" Id="Re8d39753b65340ab" /><Relationship Type="http://schemas.openxmlformats.org/officeDocument/2006/relationships/notesSlide" Target="/ppt/notesSlides/notesSlide8.xml" Id="R3ee323d5c7e443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6684879a94e36" /><Relationship Type="http://schemas.openxmlformats.org/officeDocument/2006/relationships/notesSlide" Target="/ppt/notesSlides/notesSlide9.xml" Id="R80721946de574d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1cf70e1634a63" /><Relationship Type="http://schemas.openxmlformats.org/officeDocument/2006/relationships/notesSlide" Target="/ppt/notesSlides/notesSlide10.xml" Id="Rc1458cface804e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c7844a6974de9" /><Relationship Type="http://schemas.openxmlformats.org/officeDocument/2006/relationships/notesSlide" Target="/ppt/notesSlides/notesSlide11.xml" Id="Rb9ec9826384448d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Total power (mW)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9"/>
          </c:marker>
          <c:cat>
            <c:numLit>
              <c:formatCode>General</c:formatCode>
              <c:ptCount val="4"/>
              <c:pt idx="0">
                <c:v>11</c:v>
              </c:pt>
              <c:pt idx="1">
                <c:v>12</c:v>
              </c:pt>
              <c:pt idx="2">
                <c:v>25</c:v>
              </c:pt>
              <c:pt idx="3">
                <c:v>30</c:v>
              </c:pt>
            </c:numLit>
          </c:cat>
          <c:val>
            <c:numLit>
              <c:formatCode>General</c:formatCode>
              <c:ptCount val="4"/>
              <c:pt idx="0">
                <c:v>3.371</c:v>
              </c:pt>
              <c:pt idx="1">
                <c:v>2.809</c:v>
              </c:pt>
              <c:pt idx="2">
                <c:v>1.348</c:v>
              </c:pt>
              <c:pt idx="3">
                <c:v>1.124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22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Clock period (ns)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Power (mW)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A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F47B8-AF59-4A5A-842A-E8E04471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B5064-962D-4069-A53A-3B3B2033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ADVANCED COMPUTER ARCHITECTURES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37A7F-4798-45E2-A88C-4479C99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048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Conversational QoR
Debugging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A8C33-F371-4BFE-B360-E5AF064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857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for Open ASIC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7C58F-068E-4F19-AA13-9121622D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064DB-B440-440A-9DA2-06FC970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704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 conversational tool for understanding LibreLane/OpenROAD physical-design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6BA51-5EA0-4157-A11A-2AFB973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30289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1216E-198E-4FEA-A750-E531FC07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52975"/>
            <a:ext cx="2533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Marat Yerkebayev
Aigerim Turazhanova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3900C-2F41-4552-BB08-17896C8C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10200"/>
            <a:ext cx="2533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Politecnico di Milano
Academic Year 2025–2026</a:t>
            </a:r>
          </a:p>
        </p:txBody>
      </p:sp>
    </p:spTree>
    <p:extLst>
      <p:ext uri="{BB962C8B-B14F-4D97-AF65-F5344CB8AC3E}">
        <p14:creationId xmlns:p14="http://schemas.microsoft.com/office/powerpoint/2010/main" val="27529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E1943-F281-4B9D-84C8-377CDC4C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E656D-9093-47DE-A223-9E027AA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Why QoR debugging is harder than it looks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ED309-BD95-4A4F-AAE5-5B658400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34091-7735-4957-A577-00CCDC84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15ABD-B7F0-41FF-AEDF-07392705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THE ANALYSIS BURDEN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CCECF-A089-4799-A8CB-30C08DFB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The information is scattered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13F81-7E66-44EC-A4F6-8D6A648F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476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JSON metrics and text reports must be combined before we can see the full timing, power, area and routing picture.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B2C3B-DBE4-4268-A51C-46FCB64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Each corner tells a different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EF6B-5676-41ED-8949-F966CF21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Setup and hold results change with process, voltage and temperature—and WNS, WS and slack are easy to mix 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B0E31-8C19-44B6-B962-2CB144C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Timing is only part of the picture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A34BA-5977-4813-B8E8-E733CD98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4762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Electrical, utilization and routing problems may still remain after setup timing passes.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8E4A3-96C2-4D90-9E53-5215E94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28800"/>
            <a:ext cx="60769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0FC78-453D-4178-83C7-AA57122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PROJECT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F3474-5EDB-44F7-8C9C-3A53E712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51054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994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Make the reports easier to understand—and easier to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8CE1C-7C15-45F0-85FC-2F124697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5105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9E0EA"/>
                </a:solidFill>
                <a:latin typeface="Arial"/>
                <a:ea typeface="Arial"/>
                <a:cs typeface="Arial"/>
              </a:defRPr>
            </a:pPr>
            <a:r>
              <a:t>Our assistant collects the QoR metrics, points to the most important blocker and explains the answer using evidence from the reports.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E6A12-10C9-43E5-9DE0-0AF022BD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43550"/>
            <a:ext cx="510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Faster diagnosis · fewer interpretation errors · reproducible decisions</a:t>
            </a:r>
          </a:p>
        </p:txBody>
      </p:sp>
    </p:spTree>
    <p:extLst>
      <p:ext uri="{BB962C8B-B14F-4D97-AF65-F5344CB8AC3E}">
        <p14:creationId xmlns:p14="http://schemas.microsoft.com/office/powerpoint/2010/main" val="239640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76BCE-2A42-43A2-83BA-CEAD2D38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D9C27-D80E-4393-BD41-BC88F9F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83953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PM32 connects an architecture decision to a real timing limit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D32BE-610D-427F-ADBC-E112BFAD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7ED49-F201-4D44-B20F-682A9E59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83153-416D-49C2-81CE-15BA713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Execution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850C2-1887-48F3-9D48-C6DEBA8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478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C58EE-EF8C-4EBB-9D24-A32094CA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47850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Instruction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94C6D-3D7F-42EF-B1E1-ABA7035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8478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66EA1-3C48-4965-9577-39F0959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478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9A62D-3A76-4262-9EA2-2D402E70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478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178A2-7C9C-4D2F-89D3-4864A9BF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2402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8E8B0-29AA-48F7-8324-C652EBD8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19621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Clock Period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C3610-0238-4961-A321-38A9B320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3832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limited by physical 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C8781-21B4-4558-A298-2CF4B235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3919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3AA7E-44EE-4021-A5B5-3CE37091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67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32-bit operand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A159C-1749-4377-8A9E-7E0736D6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09925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C5DCC-8466-4004-9F65-AE65DEB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2895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66A1A-FC43-4D23-B4F0-085AD72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28975"/>
            <a:ext cx="2686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SERIAL–PARALLEL
MULTIPLIER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7FD88-51EA-463B-834D-0E260F84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09925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FA429-70C7-480D-AA7E-33B2449A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00425"/>
            <a:ext cx="167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64-bit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F5D42-9830-44A1-AA59-6539380E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676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32-bit operand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BAAD0-29C8-49C6-AEE9-59412B3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7180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IDLE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60187-7164-4D58-83EA-8779814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2286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B81CB-573C-40E8-BA9D-8AEF9C2A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718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RUNNING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AEA54-6911-49FD-91D8-6466989A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76625"/>
            <a:ext cx="14763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64 cycles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71087-FEB5-4577-80A9-5A1E1CE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0576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170C4-AEF9-48AD-B338-0000C495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62575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Lower complexity, shorter combinational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84E0D-6540-4B03-80DD-2F283E7F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Trade-off: smaller area potential, but 64-cycle execution latency.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F6F4C0-B345-4A50-88F3-901E8E4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60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CD5A6E-67CB-42D4-9B75-5D10447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5029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How far can we reduce the clock while keeping timing, power, area and routing under control?</a:t>
            </a:r>
          </a:p>
        </p:txBody>
      </p:sp>
    </p:spTree>
    <p:extLst>
      <p:ext uri="{BB962C8B-B14F-4D97-AF65-F5344CB8AC3E}">
        <p14:creationId xmlns:p14="http://schemas.microsoft.com/office/powerpoint/2010/main" val="1926748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87D51-58F3-40EB-8679-AA4ADBF4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0EAD-86A2-418B-A882-45BA0684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8382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We explored ten clock periods, but only four runs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931-76D5-48ED-BEAC-0793E93B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13EE4-4652-48B1-B99C-0B86C70B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B7464-7536-4234-A2B1-48CC176D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81175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CLOCK PERIOD EXPLORATION (ns)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4C3F1-4358-4C8E-B21D-FDD0155F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955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52F36-CF81-4858-A0CD-6F28B59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2148E-F3BB-4D48-BC16-673E726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1BFED-89DB-4530-89AE-4120C0B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41A5C-BD42-4610-8FF8-8AF9060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69A91-733C-4D28-86DA-4120948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D582D-46E9-42D8-9F9D-53F4D372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DA9DB-FE8E-49A9-9371-2FD4270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6313A-5C74-433D-AD88-3489D64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2C935-8298-4F34-A329-45F9DC2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8E068-1F9F-44F8-93A5-9CF86484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EEB16-FC0D-4BC7-9EA4-B3551A0E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08110-1B86-483D-B6F8-5AAA738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7BE6E-9B44-4BB2-AE8E-BBECB05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3D473-DC3B-48B5-A8AB-C0BFA7A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64CBF-EFA1-4C1B-B1EA-2D3FA1B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config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FD35E-F944-42D1-8790-5A2C87B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31E0F-8D3E-412B-81BA-59580D63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DB4F5-7A8B-4752-8658-1462A2FC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config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E4985-F7F0-4016-B807-17DBAFD4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4C29C-63BE-42B1-803E-C7FC45C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1076E-3BFB-4472-8261-48E2A2AC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config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0F921-B2E5-45D3-9882-7EB063F9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535A6-F2DF-4D12-9B84-987112D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253AC-2809-4D05-BDD9-1857F0A5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config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4DEAD-C1BC-44D4-9DE4-CC947A0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3D6970-C135-4F55-9DC3-67F077B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DE89B-741F-435A-9844-D624217D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complete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D44D86-652B-48AB-B5A5-91A33F5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1C2B91-E526-412C-95D2-032E1DEF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38375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7AABF2-9A24-49A2-84A2-253D02B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908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7F25D3-6621-4E3D-B017-333C1FD4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113919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C258B5-7F14-45C4-92F8-25C7D87D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7145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ENVIRONMENT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01CF83-FCBF-42D7-8620-829330A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LibreLane / OpenROAD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612F1D-82A1-4894-8C66-CBE4EC24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v3.0.3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068287-A0E4-4592-873B-1A5E648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38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Sky130 PDK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83DA75-1BD6-414C-A2CE-15F2429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810125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sky130_fd_sc_hd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02DFA4-12BD-4E0D-94E9-F3534B9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438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Evidence scope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0C1293-696B-4224-8721-B7E66B62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10125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4 complete runs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39253E-1316-4A86-9F9A-CE5D921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No global optimum is claimed until the remaining configurations are executed.</a:t>
            </a:r>
          </a:p>
        </p:txBody>
      </p:sp>
    </p:spTree>
    <p:extLst>
      <p:ext uri="{BB962C8B-B14F-4D97-AF65-F5344CB8AC3E}">
        <p14:creationId xmlns:p14="http://schemas.microsoft.com/office/powerpoint/2010/main" val="1326168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7FFB3-79CB-46F8-9DBB-C01F561F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A24C8-F2EF-4890-81B7-74F766EB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9772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Here is how a question becomes a traceable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71E5F-B456-4B74-9639-2F0E6B5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0A9E2-88AA-4F75-935A-7DA26358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90C31-4C46-401C-9545-EA129A8F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Every answer starts from the reports—not from the language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C0E95-FEEF-483F-B8DF-47D891F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19375"/>
            <a:ext cx="3619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162AA-9DED-4403-B118-A5CF912C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3619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E81A2-3BAD-497C-8383-7814D08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9375"/>
            <a:ext cx="3619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CEBD8-78B5-4318-839A-10CCE174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57725"/>
            <a:ext cx="3619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4AA3D-7E2A-4FA2-BDD1-79E4976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57725"/>
            <a:ext cx="3619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29056-2BF6-476E-A936-AC3CC7B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BBB29-E45D-42A8-A02D-E6A93514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A12A9-E617-44C9-94DE-25483035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762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456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RTL + clock 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C6D68-7647-4960-8247-6B2A0876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6F5B5-5081-41D5-AD14-F29134BC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9825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6BC96-3374-4C73-8FA0-79B0569C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71775"/>
            <a:ext cx="1762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LibreLane / OpenROAD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74242-F120-4513-9E4B-94AF4A4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CD875-A2DD-4F3F-9AA2-DBC702A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9825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0F6A9-32F5-450F-B200-6B548365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71775"/>
            <a:ext cx="1762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756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Deterministic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FEAD7-E856-493E-BE6C-A25E2F4A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819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09DA1-5250-451B-B258-F59F2E1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9825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0C4D0-C0B1-4487-8C30-C65DB27B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71775"/>
            <a:ext cx="2333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015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Structured QoR dataset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09074-146A-47D0-98F2-6C9FA6C9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86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4A576-316E-48C1-9EF5-939B6BCB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577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3F47D-6683-47B7-B8F1-55515C88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19650"/>
            <a:ext cx="1571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Rule-based diagnosis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21C8A-FCBD-44EC-A58F-70E12E3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86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83003E-4B95-4A1F-9841-883B193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219AA-530D-47A8-B785-6850054C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19650"/>
            <a:ext cx="1571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Conversational assistant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99D0A-CAD0-44FC-91DE-30469C67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428F9-C414-4221-BAD6-E9BEF8AC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577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507E8-BD15-4484-A3E1-27FF226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1571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Optional validated LLM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491F5-6589-4874-857F-340C568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Parse first  →  diagnose second  →  explain last</a:t>
            </a:r>
          </a:p>
        </p:txBody>
      </p:sp>
    </p:spTree>
    <p:extLst>
      <p:ext uri="{BB962C8B-B14F-4D97-AF65-F5344CB8AC3E}">
        <p14:creationId xmlns:p14="http://schemas.microsoft.com/office/powerpoint/2010/main" val="1944723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05FEA-D783-4D68-8938-6067D2BE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EA664-3463-4FE7-BFFF-8458DF86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We keep the raw metrics, timing meaning and diagnosis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335A0-67FF-404D-90C8-D1E09820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4DF00-6730-4C4D-9572-8098A468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21C1A-736D-4842-8034-459F80DF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09950" cy="418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8A0EB-98D1-4887-8698-113CF9D1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47644-70D8-447A-A159-B12778A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62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normalized fields per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52F95-CF17-4A40-AB3A-AA413B23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6670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321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Timing
• setup + hold WNS and WS
• normalized margins
• worst PVT corners
Physical QoR
• power + area + utilization
• slew, capacitance, fanout
• DRC, wirelength, vias
Trust
• source files + confidence
• parser warnings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A647E-4F18-4349-8669-75800CDA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3543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F27B9-AE3D-47F4-BF21-AF18DB70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WNS = 0 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CF9AF-2053-4F5A-AD97-0511AFB7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0325"/>
            <a:ext cx="2952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No negative setup violation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839EB-5F66-4E09-9B9D-F0E5CE7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WS &gt; 0 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510C9-DA3F-40F5-AE8E-F38CEA06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Positive worst-slack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ACD2C-BD88-4268-9380-A033BD5D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6675"/>
            <a:ext cx="3543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This prevents us from calling WS “positive WNS.”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559FD-9526-4F75-88C5-D79E589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14875"/>
            <a:ext cx="3543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6EA75-F65E-44FF-B4B3-021C9923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SUPPORTED NUMBERS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D986B-6556-4FBE-8EFF-451E92D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05425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3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LLM can explain a result, but it cannot change the numbers.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FEB6F-EBCE-4820-A417-7456CA87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WHAT WE FIX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AF667-84B3-4E29-A595-F8A1D04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0275"/>
            <a:ext cx="3409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CB07E-E745-45F0-999D-4225DB3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63242-D25C-407B-AD30-18F972A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DRC errors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15612-CC75-407E-87FB-2399F122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90825"/>
            <a:ext cx="3409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47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7E5AA-187E-4EB0-ADE6-38D9E92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81D0C-749F-4DEE-867A-A86A68A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Hold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A98A2-075D-48F2-8715-556F780E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409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65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7301D-3D2E-45C3-96CA-ED119C5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58C95-A2EE-48BF-8A1B-E8FA48DF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Setup failure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16A01-81C1-456C-8EAD-F48AC745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71925"/>
            <a:ext cx="3409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EB44F-EB57-4728-A970-994E4B80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988F34-3691-443F-9943-F3FA18E2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767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Electrical violations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45ACC-DE71-4885-B21C-5D4D13F9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62475"/>
            <a:ext cx="3409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1A27A1-4C45-48E8-92A0-57F2B21E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51E679-B0C2-493D-8CC3-CDE0E85F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Congestion / utilization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CEC973-BAEC-4615-B741-CC938CE2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53025"/>
            <a:ext cx="3409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DC45E-F43E-44A0-B3DF-D654DB0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578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C4A4B-7142-4607-A256-B96BA34B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Clock optimization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395BC1-564C-4DBE-B0EA-7600262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38825"/>
            <a:ext cx="3409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We only tighten the clock after the blocking physical problems are resolved.</a:t>
            </a:r>
          </a:p>
        </p:txBody>
      </p:sp>
    </p:spTree>
    <p:extLst>
      <p:ext uri="{BB962C8B-B14F-4D97-AF65-F5344CB8AC3E}">
        <p14:creationId xmlns:p14="http://schemas.microsoft.com/office/powerpoint/2010/main" val="1005405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E1296-5B86-4FD5-8855-CE5C1080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DE8A-E4E8-4E45-9F1C-8750BA7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80405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The assistant finds clock_11—and explains the remaining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86A9E-8D0F-4A56-9D3E-5E8D547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A310A-B87A-42C4-89C3-5BAD119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C993B-3342-4760-88DA-A033DF5D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5537D-584D-4C53-9016-D9FA571A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“What is the fastest setup-clean run?”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0B135-61D5-4420-A010-F91F430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809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Assistant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8BC29-9B47-4BED-99AB-24C72A5B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42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clock_11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1D2C4-355D-4208-87A5-2B0703B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0957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smallest completed run that meets setup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43AE7-898D-45A1-A087-7EE1D4C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152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11 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DB01-9010-48ED-95EF-6F5C57A4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clock period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D894D-E1FA-45DB-8E5E-73C4B033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0075"/>
            <a:ext cx="171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1.237 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FDB69-91E5-4229-A7D1-49AB0F14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149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setup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B1661-AA39-4929-8006-BB8FCC52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10075"/>
            <a:ext cx="171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0.119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76487-55BE-4AF0-8820-0C80115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149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hold 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13E77-D39C-41D3-9946-77FCFA1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590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6A93D-13DF-4B20-BE8D-B5325F50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685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D03BE-246B-45B0-A66D-310D0555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52825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routing DRC errors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0654C-2641-4203-BFE0-1C5D632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7813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AB081-54E6-409A-A866-DE61D9E6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2286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3.371 mW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4C374-9818-451B-A00D-3FB68F5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52825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total power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24B91-6268-4CDB-8376-4655150F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5600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ED8B8-8B49-4893-B03D-34CF064E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953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WHY IT IS NOT QoR-CLEAN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F00DA-6F3E-45DD-9E4B-ACCC5708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29175"/>
            <a:ext cx="4953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247 slew violations  ·  1 fanout violation  ·  85.2% utilization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8B2C0-9EC9-4D2D-AF34-16E16875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So the next step is to fix the electrical and utilization blockers before reducing the clock again.</a:t>
            </a:r>
          </a:p>
        </p:txBody>
      </p:sp>
    </p:spTree>
    <p:extLst>
      <p:ext uri="{BB962C8B-B14F-4D97-AF65-F5344CB8AC3E}">
        <p14:creationId xmlns:p14="http://schemas.microsoft.com/office/powerpoint/2010/main" val="275821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AF612-4DCA-4DBC-A520-3C7C541B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1DECA-CF04-4DDF-8AD3-AE901255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8024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As the clock gets faster, power rises and timing margin shrinks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039F-D428-4331-8FB4-91BDA66A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3FE20-F394-4BD9-A5A9-41B237AB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76EA5-56CA-40DD-A10F-8C51BD53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MEASURED POWER ACROSS COMPLETED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76717-F9A8-4E7B-9AD5-D4148179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43075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Completed-run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6B5F0-9430-407A-B6A0-66CD784D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76450"/>
            <a:ext cx="5400675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CC0E6-E485-4B5E-8E0F-56437F7C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66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D65C5-BC68-43CD-BB49-DE7C592F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Period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28F5B-BFE7-4AAC-9FBB-DB9EC77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Setup slack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7B472-1F24-4E45-9BFD-862664B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72F4E-D276-45EE-90D1-043ED01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384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96D6D-868C-4FA3-8463-75086F56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71775"/>
            <a:ext cx="490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D79CF-CB21-4264-A4FA-56BAA5BE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6702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clock_11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C0FCC-B058-4EF0-9C09-CE8B007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11 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A923D-8625-44BE-8352-0FA6C927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1.237 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D53E9-D9EE-46C0-9F97-8E70F567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6702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3.371 mW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0736B-4452-47E0-AAA4-B33054F3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766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ADDC3-348D-46D3-AA61-35D71714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6232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clock_12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EEC94-7318-4D24-B10C-3988A80F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12 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6E3CF-2306-46CD-B246-94587751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3.237 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4F33F-6998-49CA-A572-0201D2A3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6232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2.809 mW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CBFF0-0458-4F4A-A7E2-3B59E854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997FC-513C-4AE8-868D-3524F32A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5762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clock_25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7719A-8DE8-4DAA-9487-7360EFC7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25 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6DDA0-583B-41C3-9E7C-56F19C01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13.237 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08296D-93A4-4627-8C09-38358861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5762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1.348 mW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11AB3-0137-4568-9B4A-0EE628EA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672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2ACCE0-45EE-4650-89BD-63F42E85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5292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clock_30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1A0EC-08E7-4BE3-A920-EDF16769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52925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30 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278499-4F31-4D0A-A464-3FB71B3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52925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17.237 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6B3D8-71A8-4BE9-BA6F-921CCB9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5292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1.124 mW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DB678-00F4-4A7D-9861-71F980D9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24475"/>
            <a:ext cx="146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3.0×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D05563-F6E2-45EA-888F-5707C5A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102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higher power at 11 ns than at 30 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1807C0-FA5D-415C-862F-F788E5C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24475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15,942.8 µm²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BEB92-20D1-4445-B8C1-DBE2F8F5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1025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area remains approximately constant</a:t>
            </a:r>
          </a:p>
        </p:txBody>
      </p:sp>
      <p:graphicFrame>
        <p:nvGraphicFramePr>
          <p:cNvPr id="74" name="Chart"/>
          <p:cNvGraphicFramePr/>
          <p:nvPr/>
        </p:nvGraphicFramePr>
        <p:xfrm>
          <a:off xmlns:a="http://schemas.openxmlformats.org/drawingml/2006/main" x="400050" y="2105025"/>
          <a:ext xmlns:a="http://schemas.openxmlformats.org/drawingml/2006/main" cx="5619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d39753b65340ab"/>
          </a:graphicData>
        </a:graphic>
      </p:graphicFrame>
    </p:spTree>
    <p:extLst>
      <p:ext uri="{BB962C8B-B14F-4D97-AF65-F5344CB8AC3E}">
        <p14:creationId xmlns:p14="http://schemas.microsoft.com/office/powerpoint/2010/main" val="1655864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2A2AB-BE85-4735-BE86-EA7145B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ACFA4-3E5B-4E10-81EA-D43AAD55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9137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Every planned test passed, with a clearly defined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0BDEF-1FC5-440B-A100-F538D4DB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38F59-F469-46B5-8DAE-B92EB6AB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950C8-917C-4E61-8B73-DBBDF2A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We tested the project at four levels: code, conversation, decision logic and reproducibility.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9DB70-0B6E-411F-AC87-1FE36209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08F42-6C39-4585-A236-D14CC4DC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552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0E384-E4E7-48AF-ABD9-971288F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2552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unit + integration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CE556-A2C5-44BF-8181-A59966FD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3241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Parser, rules, assistant, LLM validation, discovery and Pareto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D0CC8-98B6-487D-A1D9-86B69A95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B3520-36B8-49E1-8DE2-D14279BC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67275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8C4D3-B215-4883-B802-2D8BDB53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24100"/>
            <a:ext cx="2552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24/24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63B52-94F0-4656-8DF3-EDB86D5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28975"/>
            <a:ext cx="2552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conversation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519ED-AD9A-4A17-9B2D-9871FDFE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33800"/>
            <a:ext cx="23241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Natural language, missing data, WNS/WS, congestion and hallucination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20189-208B-4336-82F4-009CBBA8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2144-8645-4095-8C0A-5AEC164F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67275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F8390-5A83-4143-9072-DA8D2D9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552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18/18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9CE2C-989B-42D0-8755-D21494C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2552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decision-logic scenarios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BCFE4-AB39-4864-9A6F-F9FD156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23241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Synthetic combinations verify the recommendation hierarchy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A8746-6A84-4942-9FB1-6DEC112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91468-88D3-4C39-BB22-E16FED7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67275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79695-3CBE-44CC-8AAC-EC0097C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24100"/>
            <a:ext cx="2552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10/10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31386-7521-455D-BCC6-E4F5649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28975"/>
            <a:ext cx="2552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project validation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46DBC-5F1C-4B54-946E-D12F885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33800"/>
            <a:ext cx="23241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Compilation, schema, semantics, docs, status and reproducibility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47F00-D03D-4497-A366-87DF21D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3E7D84-AA93-4045-A671-D6F2997A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67275"/>
            <a:ext cx="41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361E9-436B-47D3-BFFC-9869614F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E77AE-0E1E-48FA-985D-FD9E35B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Scope note: 100% means all predefined scenarios passed—not a statistical guarantee for every possible question.</a:t>
            </a:r>
          </a:p>
        </p:txBody>
      </p:sp>
    </p:spTree>
    <p:extLst>
      <p:ext uri="{BB962C8B-B14F-4D97-AF65-F5344CB8AC3E}">
        <p14:creationId xmlns:p14="http://schemas.microsoft.com/office/powerpoint/2010/main" val="1847288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A3378-1276-407D-97B7-86EA9BD4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CONVERSATIONAL QoR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4386-A591-46AC-BB78-5F2AC946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93749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We show what the data can prove—and what it cannot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C6A5B-13E9-42A4-8656-9CBEA45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57195-1331-48C2-B15E-6D7ECB13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033BD-96E4-40F7-9D09-249786F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81175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RELIABILITY MECHANISMS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EC172-D90D-436A-8851-55E8EAF1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49530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• Never invent a missing metric
• Separate completed, failed and config-only runs
• Reject unsupported numerical claims
• Track the source file for important evidence
• Keep DRC and congestion conclusions distinct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6DAF8-E822-473D-A192-CC937E9E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9530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EE70C-9943-412C-B122-99E8FEF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38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 final DRC errors ≠ 0 congestion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261E6-1CC1-4577-B7C5-53E3905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438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t>Global-routing overflow metrics are required to quantify congestion.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DE8AB-CE76-41DA-BC9B-831A5451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1175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WHAT WE KNOW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72136-2003-4B9F-9261-6BC2AA66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714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9F36C-691A-43BC-B8B6-B1C34710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complete configurations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70E6C-EB12-4DC8-B111-683FA05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4765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• One benchmark: PM32
• CLI-only interface
• No explicit overflow data
• No per-path timing analysis
• Limited conversation memory
• Auto-tuning needs a live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C867F-6507-4AC4-B228-F6D10FE8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3B8AE-C670-4240-978D-1762DF6B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811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WHAT WE WOULD DO 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F64E0-415A-400F-A8B9-A8ADD2E3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621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Run all clocks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B46F2-AF87-4813-9DCF-9A9D1C7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Add benchmarks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8F2B1-A4E8-45D7-B6D3-A326536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Analyze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EA493-F1EE-4375-870B-C9E9F9DE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Parse congestion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D5205-D870-416C-8A68-AEFFE14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00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Build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58229-E1F6-41EF-9AD4-5F7225C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Auto-tune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A1843-EF50-4EE7-8601-9605173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2A5D4-22B2-4204-826D-8581A58E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The most useful next step is simple: run the six missing clock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617677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6FAE9-5800-4406-B3E4-2F8584E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2377-AD4D-4571-900C-0E4ADDB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D91EB-F056-477D-B09A-FF95EB9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QoR tells us whether an architecture target is physically realistic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F42AA-AAB2-4D96-8DA6-76FD949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7244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6308E-161E-4AF1-A068-00E5AEC6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FASTEST COMPLETED SETUP-CLEAN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E7E24-2908-4435-BDDB-520B2A0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clock_11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72687-D2B4-4357-B6CA-90853D7E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0005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11 ns clock  ·  1.237 ns setup 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50593-7408-4016-BF86-4F31071A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Not fully QoR-clean: 247 slew violations, 1 fanout violation and 85.2% utilization.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503BE-7BB0-4325-BEF9-E80B4B82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81275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WHAT WE BUILT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CE53A-72E9-4153-8A34-44AF01C4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81325"/>
            <a:ext cx="5238750" cy="2009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Deterministic 37-field parser
Correct WNS / WS semantics
Explainable diagnosis hierarchy
Evidence-linked conversational answers
Validated optional LLM wording
Reproducible test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4AABB-2D96-4B64-A0E7-5276CA31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0332F-A9B3-4217-8623-47ACD30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0334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Architecture sets the target. Physical implementation tells us whether the design can actually reach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C841-835A-4E31-B548-39DEA67C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19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4611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2026-07-15T21:12:12.5710000Z</dcterms:created>
  <dcterms:modified xsi:type="dcterms:W3CDTF">2026-07-15T21:12:12.5720000Z</dcterms:modified>
</coreProperties>
</file>